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383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72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23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47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57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39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171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5227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9733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381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267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7276B-5D02-47B1-8619-319C0B1BB960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0767E2-3221-4077-ABAE-DFE650DF39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450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250">
            <a:extLst>
              <a:ext uri="{FF2B5EF4-FFF2-40B4-BE49-F238E27FC236}">
                <a16:creationId xmlns:a16="http://schemas.microsoft.com/office/drawing/2014/main" id="{87F5B466-026E-CEAA-3E8E-C3FBD841A681}"/>
              </a:ext>
            </a:extLst>
          </p:cNvPr>
          <p:cNvSpPr/>
          <p:nvPr/>
        </p:nvSpPr>
        <p:spPr>
          <a:xfrm>
            <a:off x="1422936" y="4063006"/>
            <a:ext cx="10585215" cy="2288243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37F0900-B457-8EE5-321E-CF6ED3A9704F}"/>
              </a:ext>
            </a:extLst>
          </p:cNvPr>
          <p:cNvSpPr/>
          <p:nvPr/>
        </p:nvSpPr>
        <p:spPr>
          <a:xfrm>
            <a:off x="1175204" y="982251"/>
            <a:ext cx="10448673" cy="2288243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24C3001-FF03-5494-B45A-ADA88B30E967}"/>
              </a:ext>
            </a:extLst>
          </p:cNvPr>
          <p:cNvSpPr/>
          <p:nvPr/>
        </p:nvSpPr>
        <p:spPr>
          <a:xfrm>
            <a:off x="7010057" y="1978718"/>
            <a:ext cx="4570232" cy="343535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32362CE-F4AA-A48C-0267-F16072B10858}"/>
              </a:ext>
            </a:extLst>
          </p:cNvPr>
          <p:cNvSpPr/>
          <p:nvPr/>
        </p:nvSpPr>
        <p:spPr>
          <a:xfrm>
            <a:off x="7010057" y="2353836"/>
            <a:ext cx="4570232" cy="821505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Zone de texte 1">
            <a:extLst>
              <a:ext uri="{FF2B5EF4-FFF2-40B4-BE49-F238E27FC236}">
                <a16:creationId xmlns:a16="http://schemas.microsoft.com/office/drawing/2014/main" id="{DA55DB85-EA87-6C5A-8392-380B50E8F9F4}"/>
              </a:ext>
            </a:extLst>
          </p:cNvPr>
          <p:cNvSpPr txBox="1"/>
          <p:nvPr/>
        </p:nvSpPr>
        <p:spPr>
          <a:xfrm>
            <a:off x="9430421" y="1006336"/>
            <a:ext cx="2350770" cy="895285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populate_database</a:t>
            </a:r>
            <a:r>
              <a:rPr lang="fr-FR" sz="11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</a:t>
            </a: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compte-rendus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plannings sont stockés en .parquet pour garder leur structure tabulaire. 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BFF920A7-4193-85F8-3634-BAD9ABF0CE43}"/>
              </a:ext>
            </a:extLst>
          </p:cNvPr>
          <p:cNvSpPr txBox="1"/>
          <p:nvPr/>
        </p:nvSpPr>
        <p:spPr>
          <a:xfrm>
            <a:off x="10740408" y="2037602"/>
            <a:ext cx="800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 dirty="0"/>
              <a:t>chroma</a:t>
            </a:r>
          </a:p>
        </p:txBody>
      </p:sp>
      <p:sp>
        <p:nvSpPr>
          <p:cNvPr id="4" name="Zone de texte 1">
            <a:extLst>
              <a:ext uri="{FF2B5EF4-FFF2-40B4-BE49-F238E27FC236}">
                <a16:creationId xmlns:a16="http://schemas.microsoft.com/office/drawing/2014/main" id="{B422DF7A-E1B0-6D84-503E-B7675623DD39}"/>
              </a:ext>
            </a:extLst>
          </p:cNvPr>
          <p:cNvSpPr txBox="1"/>
          <p:nvPr/>
        </p:nvSpPr>
        <p:spPr>
          <a:xfrm>
            <a:off x="2087970" y="975828"/>
            <a:ext cx="1862250" cy="1787776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handleUploadFile</a:t>
            </a:r>
            <a:endParaRPr lang="fr-FR" sz="11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"/>
            </a:pP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file</a:t>
            </a: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"/>
            </a:pP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doc_type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"/>
            </a:pP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"/>
            </a:pP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"/>
            </a:pP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"/>
            </a:pPr>
            <a:r>
              <a:rPr lang="en-US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sheet_name</a:t>
            </a:r>
            <a:r>
              <a:rPr lang="en-US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table_number</a:t>
            </a:r>
            <a:r>
              <a:rPr lang="en-US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template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Zone de texte 1">
            <a:extLst>
              <a:ext uri="{FF2B5EF4-FFF2-40B4-BE49-F238E27FC236}">
                <a16:creationId xmlns:a16="http://schemas.microsoft.com/office/drawing/2014/main" id="{293EE702-8B50-DFA4-C5FB-7FE61CB3F7FB}"/>
              </a:ext>
            </a:extLst>
          </p:cNvPr>
          <p:cNvSpPr txBox="1"/>
          <p:nvPr/>
        </p:nvSpPr>
        <p:spPr>
          <a:xfrm>
            <a:off x="4177446" y="973591"/>
            <a:ext cx="2023110" cy="121843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upload_document</a:t>
            </a:r>
            <a:r>
              <a:rPr lang="fr-FR" sz="11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"/>
            </a:pP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file</a:t>
            </a: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"/>
            </a:pP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doc_type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"/>
            </a:pP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"/>
            </a:pPr>
            <a:r>
              <a:rPr lang="en-US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kwargs</a:t>
            </a:r>
            <a:r>
              <a:rPr lang="en-US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: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Zone de texte 3">
            <a:extLst>
              <a:ext uri="{FF2B5EF4-FFF2-40B4-BE49-F238E27FC236}">
                <a16:creationId xmlns:a16="http://schemas.microsoft.com/office/drawing/2014/main" id="{32492720-E9C0-4D12-052E-418F8A7D4A14}"/>
              </a:ext>
            </a:extLst>
          </p:cNvPr>
          <p:cNvSpPr txBox="1"/>
          <p:nvPr/>
        </p:nvSpPr>
        <p:spPr>
          <a:xfrm>
            <a:off x="1692150" y="577353"/>
            <a:ext cx="2283709" cy="28765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07000"/>
              </a:lnSpc>
              <a:spcAft>
                <a:spcPts val="800"/>
              </a:spcAft>
              <a:defRPr sz="1100" kern="1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fr-FR" dirty="0">
                <a:solidFill>
                  <a:schemeClr val="tx1"/>
                </a:solidFill>
              </a:rPr>
              <a:t>Fonction appelée par l’interface</a:t>
            </a:r>
          </a:p>
        </p:txBody>
      </p:sp>
      <p:sp>
        <p:nvSpPr>
          <p:cNvPr id="7" name="Zone de texte 3">
            <a:extLst>
              <a:ext uri="{FF2B5EF4-FFF2-40B4-BE49-F238E27FC236}">
                <a16:creationId xmlns:a16="http://schemas.microsoft.com/office/drawing/2014/main" id="{92D6FDDC-A64F-C858-532A-196A27452852}"/>
              </a:ext>
            </a:extLst>
          </p:cNvPr>
          <p:cNvSpPr txBox="1"/>
          <p:nvPr/>
        </p:nvSpPr>
        <p:spPr>
          <a:xfrm>
            <a:off x="4094874" y="574907"/>
            <a:ext cx="2283183" cy="28765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100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Endpoint API</a:t>
            </a:r>
            <a:endParaRPr lang="fr-FR" sz="1600" kern="10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Zone de texte 1">
            <a:extLst>
              <a:ext uri="{FF2B5EF4-FFF2-40B4-BE49-F238E27FC236}">
                <a16:creationId xmlns:a16="http://schemas.microsoft.com/office/drawing/2014/main" id="{467D1202-5C6F-280C-2F12-0D880A2A905E}"/>
              </a:ext>
            </a:extLst>
          </p:cNvPr>
          <p:cNvSpPr txBox="1"/>
          <p:nvPr/>
        </p:nvSpPr>
        <p:spPr>
          <a:xfrm>
            <a:off x="7075319" y="1028529"/>
            <a:ext cx="2350770" cy="281341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ParserRouter</a:t>
            </a:r>
            <a:r>
              <a:rPr lang="en-US" sz="11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Tous les </a:t>
            </a: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parsers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sont uniformisés par la classe </a:t>
            </a: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BaseParser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(). </a:t>
            </a:r>
            <a:endParaRPr lang="en-US" sz="11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("pdf", "pdf"): </a:t>
            </a:r>
            <a:r>
              <a:rPr lang="en-US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PDFParser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</a:t>
            </a:r>
            <a:r>
              <a:rPr lang="en-US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</a:t>
            </a:r>
            <a:r>
              <a:rPr lang="en-US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", "docx"): </a:t>
            </a:r>
            <a:r>
              <a:rPr lang="en-US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WordReportParser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</a:t>
            </a: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", "xlsx"): </a:t>
            </a: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ExcelReportParser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("planning", "xlsx"): </a:t>
            </a:r>
            <a:r>
              <a:rPr lang="en-US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PlanningParser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E413C120-078B-BA05-3011-A040E1A1D38C}"/>
              </a:ext>
            </a:extLst>
          </p:cNvPr>
          <p:cNvSpPr txBox="1"/>
          <p:nvPr/>
        </p:nvSpPr>
        <p:spPr>
          <a:xfrm>
            <a:off x="10811463" y="2371613"/>
            <a:ext cx="726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 dirty="0"/>
              <a:t>parquet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E67D277A-F22F-EB2E-5FE2-34EDF5E4843E}"/>
              </a:ext>
            </a:extLst>
          </p:cNvPr>
          <p:cNvSpPr txBox="1"/>
          <p:nvPr/>
        </p:nvSpPr>
        <p:spPr>
          <a:xfrm>
            <a:off x="5228156" y="2341510"/>
            <a:ext cx="17514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template</a:t>
            </a:r>
            <a:r>
              <a:rPr lang="fr-FR" sz="1100" dirty="0"/>
              <a:t>, </a:t>
            </a:r>
            <a:r>
              <a:rPr lang="fr-FR" sz="1100" dirty="0" err="1"/>
              <a:t>table_number</a:t>
            </a:r>
            <a:endParaRPr lang="fr-FR" sz="1100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9C55F0A2-94A2-9893-B31A-940D70B40BB5}"/>
              </a:ext>
            </a:extLst>
          </p:cNvPr>
          <p:cNvSpPr txBox="1"/>
          <p:nvPr/>
        </p:nvSpPr>
        <p:spPr>
          <a:xfrm>
            <a:off x="5110862" y="2600128"/>
            <a:ext cx="18991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template</a:t>
            </a:r>
            <a:r>
              <a:rPr lang="fr-FR" sz="1100" dirty="0"/>
              <a:t>, </a:t>
            </a:r>
            <a:r>
              <a:rPr lang="fr-FR" sz="1100" dirty="0" err="1"/>
              <a:t>sheet_name</a:t>
            </a:r>
            <a:endParaRPr lang="fr-FR" sz="1100" dirty="0"/>
          </a:p>
        </p:txBody>
      </p:sp>
      <p:sp>
        <p:nvSpPr>
          <p:cNvPr id="91" name="Accolade ouvrante 90">
            <a:extLst>
              <a:ext uri="{FF2B5EF4-FFF2-40B4-BE49-F238E27FC236}">
                <a16:creationId xmlns:a16="http://schemas.microsoft.com/office/drawing/2014/main" id="{9B226626-9FDD-8E83-E130-338DFC42C572}"/>
              </a:ext>
            </a:extLst>
          </p:cNvPr>
          <p:cNvSpPr/>
          <p:nvPr/>
        </p:nvSpPr>
        <p:spPr>
          <a:xfrm>
            <a:off x="5148784" y="2142201"/>
            <a:ext cx="214323" cy="882366"/>
          </a:xfrm>
          <a:prstGeom prst="leftBrace">
            <a:avLst>
              <a:gd name="adj1" fmla="val 8333"/>
              <a:gd name="adj2" fmla="val 18186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Zone de texte 1">
            <a:extLst>
              <a:ext uri="{FF2B5EF4-FFF2-40B4-BE49-F238E27FC236}">
                <a16:creationId xmlns:a16="http://schemas.microsoft.com/office/drawing/2014/main" id="{282DC7C1-F10A-735D-90AB-964409E9D7A0}"/>
              </a:ext>
            </a:extLst>
          </p:cNvPr>
          <p:cNvSpPr txBox="1"/>
          <p:nvPr/>
        </p:nvSpPr>
        <p:spPr>
          <a:xfrm>
            <a:off x="2078539" y="4551006"/>
            <a:ext cx="1703321" cy="121843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handleSendMessage</a:t>
            </a:r>
            <a:endParaRPr lang="fr-FR" sz="11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"/>
            </a:pP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payloadMessages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contient l’historique des messages utilisateur</a:t>
            </a:r>
          </a:p>
        </p:txBody>
      </p:sp>
      <p:sp>
        <p:nvSpPr>
          <p:cNvPr id="115" name="Zone de texte 1">
            <a:extLst>
              <a:ext uri="{FF2B5EF4-FFF2-40B4-BE49-F238E27FC236}">
                <a16:creationId xmlns:a16="http://schemas.microsoft.com/office/drawing/2014/main" id="{39182691-1B84-8287-B898-4B028872702B}"/>
              </a:ext>
            </a:extLst>
          </p:cNvPr>
          <p:cNvSpPr txBox="1"/>
          <p:nvPr/>
        </p:nvSpPr>
        <p:spPr>
          <a:xfrm>
            <a:off x="4191053" y="4486221"/>
            <a:ext cx="1751948" cy="121843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chat_endpoint</a:t>
            </a:r>
            <a:r>
              <a:rPr lang="fr-FR" sz="11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 : </a:t>
            </a: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"/>
            </a:pP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ChatRequest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input de l’appel à l’agent Open AI</a:t>
            </a:r>
          </a:p>
        </p:txBody>
      </p:sp>
      <p:sp>
        <p:nvSpPr>
          <p:cNvPr id="117" name="Zone de texte 1">
            <a:extLst>
              <a:ext uri="{FF2B5EF4-FFF2-40B4-BE49-F238E27FC236}">
                <a16:creationId xmlns:a16="http://schemas.microsoft.com/office/drawing/2014/main" id="{566813B4-A2D8-14C0-6465-F1C1177C4029}"/>
              </a:ext>
            </a:extLst>
          </p:cNvPr>
          <p:cNvSpPr txBox="1"/>
          <p:nvPr/>
        </p:nvSpPr>
        <p:spPr>
          <a:xfrm>
            <a:off x="6542983" y="4486221"/>
            <a:ext cx="1459457" cy="132516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agent.py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Agent Open AI.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Prompt général : contexte et instructions pour réponse utilisateur.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fr-FR" sz="11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Zone de texte 1">
            <a:extLst>
              <a:ext uri="{FF2B5EF4-FFF2-40B4-BE49-F238E27FC236}">
                <a16:creationId xmlns:a16="http://schemas.microsoft.com/office/drawing/2014/main" id="{542910F8-E014-DB27-5D35-BF262F1CF13B}"/>
              </a:ext>
            </a:extLst>
          </p:cNvPr>
          <p:cNvSpPr txBox="1"/>
          <p:nvPr/>
        </p:nvSpPr>
        <p:spPr>
          <a:xfrm>
            <a:off x="8371944" y="4486221"/>
            <a:ext cx="1332866" cy="221705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tools.py</a:t>
            </a:r>
          </a:p>
        </p:txBody>
      </p:sp>
      <p:sp>
        <p:nvSpPr>
          <p:cNvPr id="121" name="Zone de texte 1">
            <a:extLst>
              <a:ext uri="{FF2B5EF4-FFF2-40B4-BE49-F238E27FC236}">
                <a16:creationId xmlns:a16="http://schemas.microsoft.com/office/drawing/2014/main" id="{8EB15806-00B3-B732-07D0-AC49C8FE6B6D}"/>
              </a:ext>
            </a:extLst>
          </p:cNvPr>
          <p:cNvSpPr txBox="1"/>
          <p:nvPr/>
        </p:nvSpPr>
        <p:spPr>
          <a:xfrm>
            <a:off x="8863119" y="3232440"/>
            <a:ext cx="2709549" cy="779425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operate_database.py</a:t>
            </a:r>
          </a:p>
          <a:p>
            <a:pPr algn="r">
              <a:lnSpc>
                <a:spcPct val="107000"/>
              </a:lnSpc>
            </a:pP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get_indexed_documents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algn="r">
              <a:lnSpc>
                <a:spcPct val="107000"/>
              </a:lnSpc>
            </a:pP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delete_documents_from_db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endParaRPr lang="fr-FR" sz="11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ACF4F3E5-7AAD-DC0B-72CA-C17FEC5D1D21}"/>
              </a:ext>
            </a:extLst>
          </p:cNvPr>
          <p:cNvCxnSpPr>
            <a:cxnSpLocks/>
          </p:cNvCxnSpPr>
          <p:nvPr/>
        </p:nvCxnSpPr>
        <p:spPr>
          <a:xfrm>
            <a:off x="11940966" y="2488592"/>
            <a:ext cx="0" cy="2536756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Connecteur droit 134">
            <a:extLst>
              <a:ext uri="{FF2B5EF4-FFF2-40B4-BE49-F238E27FC236}">
                <a16:creationId xmlns:a16="http://schemas.microsoft.com/office/drawing/2014/main" id="{DF8728EA-8C4C-D8DA-8201-25917FCF78FF}"/>
              </a:ext>
            </a:extLst>
          </p:cNvPr>
          <p:cNvCxnSpPr/>
          <p:nvPr/>
        </p:nvCxnSpPr>
        <p:spPr>
          <a:xfrm>
            <a:off x="11719742" y="3091929"/>
            <a:ext cx="216309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E645748B-14EB-533F-5818-1A8979416740}"/>
              </a:ext>
            </a:extLst>
          </p:cNvPr>
          <p:cNvCxnSpPr/>
          <p:nvPr/>
        </p:nvCxnSpPr>
        <p:spPr>
          <a:xfrm>
            <a:off x="11724657" y="4707926"/>
            <a:ext cx="216309" cy="0"/>
          </a:xfrm>
          <a:prstGeom prst="line">
            <a:avLst/>
          </a:prstGeom>
          <a:ln w="9525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257E5841-DE2B-966A-ABD2-3562F33F125B}"/>
              </a:ext>
            </a:extLst>
          </p:cNvPr>
          <p:cNvCxnSpPr/>
          <p:nvPr/>
        </p:nvCxnSpPr>
        <p:spPr>
          <a:xfrm>
            <a:off x="11724657" y="5025348"/>
            <a:ext cx="216309" cy="0"/>
          </a:xfrm>
          <a:prstGeom prst="line">
            <a:avLst/>
          </a:prstGeom>
          <a:ln w="9525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cteur droit 130">
            <a:extLst>
              <a:ext uri="{FF2B5EF4-FFF2-40B4-BE49-F238E27FC236}">
                <a16:creationId xmlns:a16="http://schemas.microsoft.com/office/drawing/2014/main" id="{1BC5C87B-7FA4-5B6E-F11B-83C4078FAD9F}"/>
              </a:ext>
            </a:extLst>
          </p:cNvPr>
          <p:cNvCxnSpPr>
            <a:cxnSpLocks/>
          </p:cNvCxnSpPr>
          <p:nvPr/>
        </p:nvCxnSpPr>
        <p:spPr>
          <a:xfrm>
            <a:off x="11727114" y="2164083"/>
            <a:ext cx="319547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F2B38B5E-0984-67D7-926D-F3B0CFE2AC4A}"/>
              </a:ext>
            </a:extLst>
          </p:cNvPr>
          <p:cNvCxnSpPr>
            <a:cxnSpLocks/>
          </p:cNvCxnSpPr>
          <p:nvPr/>
        </p:nvCxnSpPr>
        <p:spPr>
          <a:xfrm>
            <a:off x="12044204" y="2160712"/>
            <a:ext cx="0" cy="3394841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Connecteur droit 143">
            <a:extLst>
              <a:ext uri="{FF2B5EF4-FFF2-40B4-BE49-F238E27FC236}">
                <a16:creationId xmlns:a16="http://schemas.microsoft.com/office/drawing/2014/main" id="{5BCB1BF2-CFF3-D45A-62C9-269B1C271F6B}"/>
              </a:ext>
            </a:extLst>
          </p:cNvPr>
          <p:cNvCxnSpPr>
            <a:cxnSpLocks/>
          </p:cNvCxnSpPr>
          <p:nvPr/>
        </p:nvCxnSpPr>
        <p:spPr>
          <a:xfrm>
            <a:off x="11724657" y="5555553"/>
            <a:ext cx="324463" cy="0"/>
          </a:xfrm>
          <a:prstGeom prst="line">
            <a:avLst/>
          </a:prstGeom>
          <a:ln w="9525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Zone de texte 1">
            <a:extLst>
              <a:ext uri="{FF2B5EF4-FFF2-40B4-BE49-F238E27FC236}">
                <a16:creationId xmlns:a16="http://schemas.microsoft.com/office/drawing/2014/main" id="{D67F2045-74E6-E828-9519-36FBE28566FD}"/>
              </a:ext>
            </a:extLst>
          </p:cNvPr>
          <p:cNvSpPr txBox="1"/>
          <p:nvPr/>
        </p:nvSpPr>
        <p:spPr>
          <a:xfrm>
            <a:off x="10484884" y="4572700"/>
            <a:ext cx="1234858" cy="27045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query_parquet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49" name="Zone de texte 1">
            <a:extLst>
              <a:ext uri="{FF2B5EF4-FFF2-40B4-BE49-F238E27FC236}">
                <a16:creationId xmlns:a16="http://schemas.microsoft.com/office/drawing/2014/main" id="{360D9ACC-99EF-EE8B-AFCC-3D4225EE0D51}"/>
              </a:ext>
            </a:extLst>
          </p:cNvPr>
          <p:cNvSpPr txBox="1"/>
          <p:nvPr/>
        </p:nvSpPr>
        <p:spPr>
          <a:xfrm>
            <a:off x="10266732" y="4890122"/>
            <a:ext cx="1490085" cy="27045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compare_plannings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53" name="Zone de texte 1">
            <a:extLst>
              <a:ext uri="{FF2B5EF4-FFF2-40B4-BE49-F238E27FC236}">
                <a16:creationId xmlns:a16="http://schemas.microsoft.com/office/drawing/2014/main" id="{803B7B9C-B221-D01A-4195-8441B1B653E7}"/>
              </a:ext>
            </a:extLst>
          </p:cNvPr>
          <p:cNvSpPr txBox="1"/>
          <p:nvPr/>
        </p:nvSpPr>
        <p:spPr>
          <a:xfrm>
            <a:off x="10484884" y="5427493"/>
            <a:ext cx="1234858" cy="27045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query_chroma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55" name="Accolade ouvrante 154">
            <a:extLst>
              <a:ext uri="{FF2B5EF4-FFF2-40B4-BE49-F238E27FC236}">
                <a16:creationId xmlns:a16="http://schemas.microsoft.com/office/drawing/2014/main" id="{1F2D949E-7570-E455-B14C-BEBD2BEA8AA0}"/>
              </a:ext>
            </a:extLst>
          </p:cNvPr>
          <p:cNvSpPr/>
          <p:nvPr/>
        </p:nvSpPr>
        <p:spPr>
          <a:xfrm>
            <a:off x="9748221" y="4146647"/>
            <a:ext cx="290192" cy="1751806"/>
          </a:xfrm>
          <a:prstGeom prst="leftBrace">
            <a:avLst>
              <a:gd name="adj1" fmla="val 8333"/>
              <a:gd name="adj2" fmla="val 27114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7A648FBC-56B3-3634-150E-1F5DC7E70968}"/>
              </a:ext>
            </a:extLst>
          </p:cNvPr>
          <p:cNvCxnSpPr>
            <a:cxnSpLocks/>
          </p:cNvCxnSpPr>
          <p:nvPr/>
        </p:nvCxnSpPr>
        <p:spPr>
          <a:xfrm>
            <a:off x="11713313" y="3605302"/>
            <a:ext cx="135757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154DB1AB-D78E-0D4C-BE12-52701601AFE8}"/>
              </a:ext>
            </a:extLst>
          </p:cNvPr>
          <p:cNvCxnSpPr>
            <a:cxnSpLocks/>
          </p:cNvCxnSpPr>
          <p:nvPr/>
        </p:nvCxnSpPr>
        <p:spPr>
          <a:xfrm flipH="1">
            <a:off x="11854741" y="3605302"/>
            <a:ext cx="757" cy="81002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Connecteur droit 158">
            <a:extLst>
              <a:ext uri="{FF2B5EF4-FFF2-40B4-BE49-F238E27FC236}">
                <a16:creationId xmlns:a16="http://schemas.microsoft.com/office/drawing/2014/main" id="{96D900E5-1BAE-89B3-F1B7-84100B1F0B81}"/>
              </a:ext>
            </a:extLst>
          </p:cNvPr>
          <p:cNvCxnSpPr>
            <a:cxnSpLocks/>
          </p:cNvCxnSpPr>
          <p:nvPr/>
        </p:nvCxnSpPr>
        <p:spPr>
          <a:xfrm>
            <a:off x="11719742" y="4416442"/>
            <a:ext cx="135756" cy="0"/>
          </a:xfrm>
          <a:prstGeom prst="line">
            <a:avLst/>
          </a:prstGeom>
          <a:ln w="9525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Zone de texte 1">
            <a:extLst>
              <a:ext uri="{FF2B5EF4-FFF2-40B4-BE49-F238E27FC236}">
                <a16:creationId xmlns:a16="http://schemas.microsoft.com/office/drawing/2014/main" id="{AFD54F4D-B19B-4629-40BF-4B60F770428E}"/>
              </a:ext>
            </a:extLst>
          </p:cNvPr>
          <p:cNvSpPr txBox="1"/>
          <p:nvPr/>
        </p:nvSpPr>
        <p:spPr>
          <a:xfrm>
            <a:off x="10262505" y="4280554"/>
            <a:ext cx="1457237" cy="270452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search_documents</a:t>
            </a: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71" name="Zone de texte 1">
            <a:extLst>
              <a:ext uri="{FF2B5EF4-FFF2-40B4-BE49-F238E27FC236}">
                <a16:creationId xmlns:a16="http://schemas.microsoft.com/office/drawing/2014/main" id="{9843A37E-F25A-BF20-78EE-FCA7A0CA5998}"/>
              </a:ext>
            </a:extLst>
          </p:cNvPr>
          <p:cNvSpPr txBox="1"/>
          <p:nvPr/>
        </p:nvSpPr>
        <p:spPr>
          <a:xfrm>
            <a:off x="8363837" y="5051952"/>
            <a:ext cx="1459456" cy="77140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Prompt par outil : instructions pour choix et bonne utilisation de l’outil. </a:t>
            </a:r>
          </a:p>
        </p:txBody>
      </p:sp>
      <p:sp>
        <p:nvSpPr>
          <p:cNvPr id="173" name="Zone de texte 3">
            <a:extLst>
              <a:ext uri="{FF2B5EF4-FFF2-40B4-BE49-F238E27FC236}">
                <a16:creationId xmlns:a16="http://schemas.microsoft.com/office/drawing/2014/main" id="{872905D0-6732-0F2F-4550-78CB6127EA8B}"/>
              </a:ext>
            </a:extLst>
          </p:cNvPr>
          <p:cNvSpPr txBox="1"/>
          <p:nvPr/>
        </p:nvSpPr>
        <p:spPr>
          <a:xfrm>
            <a:off x="1694624" y="230063"/>
            <a:ext cx="2283709" cy="28765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07000"/>
              </a:lnSpc>
              <a:spcAft>
                <a:spcPts val="800"/>
              </a:spcAft>
              <a:defRPr sz="1100" kern="1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fr-FR" dirty="0">
                <a:solidFill>
                  <a:schemeClr val="tx1"/>
                </a:solidFill>
              </a:rPr>
              <a:t>FRONTEND : Next.js</a:t>
            </a:r>
          </a:p>
        </p:txBody>
      </p:sp>
      <p:sp>
        <p:nvSpPr>
          <p:cNvPr id="175" name="Zone de texte 3">
            <a:extLst>
              <a:ext uri="{FF2B5EF4-FFF2-40B4-BE49-F238E27FC236}">
                <a16:creationId xmlns:a16="http://schemas.microsoft.com/office/drawing/2014/main" id="{9C42468E-1E25-EE68-4F25-9B229FC8E8DE}"/>
              </a:ext>
            </a:extLst>
          </p:cNvPr>
          <p:cNvSpPr txBox="1"/>
          <p:nvPr/>
        </p:nvSpPr>
        <p:spPr>
          <a:xfrm>
            <a:off x="4094454" y="230063"/>
            <a:ext cx="2283184" cy="28765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07000"/>
              </a:lnSpc>
              <a:spcAft>
                <a:spcPts val="800"/>
              </a:spcAft>
              <a:defRPr sz="1100" kern="1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fr-FR" dirty="0">
                <a:solidFill>
                  <a:schemeClr val="tx1"/>
                </a:solidFill>
              </a:rPr>
              <a:t>BACKEND : </a:t>
            </a:r>
            <a:r>
              <a:rPr lang="fr-FR" dirty="0" err="1">
                <a:solidFill>
                  <a:schemeClr val="tx1"/>
                </a:solidFill>
              </a:rPr>
              <a:t>FastApi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81" name="Graphique 180">
            <a:extLst>
              <a:ext uri="{FF2B5EF4-FFF2-40B4-BE49-F238E27FC236}">
                <a16:creationId xmlns:a16="http://schemas.microsoft.com/office/drawing/2014/main" id="{CEE2B8D4-E284-2F46-CE2B-BA16772F8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7092" y="1119041"/>
            <a:ext cx="228600" cy="228600"/>
          </a:xfrm>
          <a:prstGeom prst="rect">
            <a:avLst/>
          </a:prstGeom>
        </p:spPr>
      </p:pic>
      <p:pic>
        <p:nvPicPr>
          <p:cNvPr id="183" name="Graphique 182">
            <a:extLst>
              <a:ext uri="{FF2B5EF4-FFF2-40B4-BE49-F238E27FC236}">
                <a16:creationId xmlns:a16="http://schemas.microsoft.com/office/drawing/2014/main" id="{4F1E89B0-7D73-C786-91D1-41F7137177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7092" y="1468507"/>
            <a:ext cx="228600" cy="228600"/>
          </a:xfrm>
          <a:prstGeom prst="rect">
            <a:avLst/>
          </a:prstGeom>
        </p:spPr>
      </p:pic>
      <p:pic>
        <p:nvPicPr>
          <p:cNvPr id="186" name="Graphique 185">
            <a:extLst>
              <a:ext uri="{FF2B5EF4-FFF2-40B4-BE49-F238E27FC236}">
                <a16:creationId xmlns:a16="http://schemas.microsoft.com/office/drawing/2014/main" id="{80F58B12-904C-8B02-B7F7-69388447C0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7092" y="2259992"/>
            <a:ext cx="228600" cy="228600"/>
          </a:xfrm>
          <a:prstGeom prst="rect">
            <a:avLst/>
          </a:prstGeom>
        </p:spPr>
      </p:pic>
      <p:pic>
        <p:nvPicPr>
          <p:cNvPr id="188" name="Graphique 187">
            <a:extLst>
              <a:ext uri="{FF2B5EF4-FFF2-40B4-BE49-F238E27FC236}">
                <a16:creationId xmlns:a16="http://schemas.microsoft.com/office/drawing/2014/main" id="{1AD3CE8F-2550-9C59-6DDA-A385E0A83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7597" y="4584962"/>
            <a:ext cx="228600" cy="228600"/>
          </a:xfrm>
          <a:prstGeom prst="rect">
            <a:avLst/>
          </a:prstGeom>
        </p:spPr>
      </p:pic>
      <p:pic>
        <p:nvPicPr>
          <p:cNvPr id="192" name="Graphique 191">
            <a:extLst>
              <a:ext uri="{FF2B5EF4-FFF2-40B4-BE49-F238E27FC236}">
                <a16:creationId xmlns:a16="http://schemas.microsoft.com/office/drawing/2014/main" id="{46E92B0D-A09C-FF6A-BCF9-D5DF306EF2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9814" y="3645244"/>
            <a:ext cx="228600" cy="228600"/>
          </a:xfrm>
          <a:prstGeom prst="rect">
            <a:avLst/>
          </a:prstGeom>
        </p:spPr>
      </p:pic>
      <p:sp>
        <p:nvSpPr>
          <p:cNvPr id="194" name="Zone de texte 1">
            <a:extLst>
              <a:ext uri="{FF2B5EF4-FFF2-40B4-BE49-F238E27FC236}">
                <a16:creationId xmlns:a16="http://schemas.microsoft.com/office/drawing/2014/main" id="{AD1AEFDA-A926-0ADC-D10D-F802B51FB247}"/>
              </a:ext>
            </a:extLst>
          </p:cNvPr>
          <p:cNvSpPr txBox="1"/>
          <p:nvPr/>
        </p:nvSpPr>
        <p:spPr>
          <a:xfrm>
            <a:off x="2150516" y="3365481"/>
            <a:ext cx="2023110" cy="287656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fetchDocuments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6" name="Zone de texte 1">
            <a:extLst>
              <a:ext uri="{FF2B5EF4-FFF2-40B4-BE49-F238E27FC236}">
                <a16:creationId xmlns:a16="http://schemas.microsoft.com/office/drawing/2014/main" id="{64705A87-9187-3405-FA05-F3AAC5B2497F}"/>
              </a:ext>
            </a:extLst>
          </p:cNvPr>
          <p:cNvSpPr txBox="1"/>
          <p:nvPr/>
        </p:nvSpPr>
        <p:spPr>
          <a:xfrm>
            <a:off x="2155487" y="3614520"/>
            <a:ext cx="2023110" cy="287656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handleDeleteFile</a:t>
            </a:r>
            <a:endParaRPr lang="fr-FR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02" name="Connecteur droit 201">
            <a:extLst>
              <a:ext uri="{FF2B5EF4-FFF2-40B4-BE49-F238E27FC236}">
                <a16:creationId xmlns:a16="http://schemas.microsoft.com/office/drawing/2014/main" id="{E788967F-A2FD-0AEC-C5D0-D780F4CF0C0A}"/>
              </a:ext>
            </a:extLst>
          </p:cNvPr>
          <p:cNvCxnSpPr>
            <a:cxnSpLocks/>
          </p:cNvCxnSpPr>
          <p:nvPr/>
        </p:nvCxnSpPr>
        <p:spPr>
          <a:xfrm flipV="1">
            <a:off x="3973695" y="973591"/>
            <a:ext cx="0" cy="5378441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208">
            <a:extLst>
              <a:ext uri="{FF2B5EF4-FFF2-40B4-BE49-F238E27FC236}">
                <a16:creationId xmlns:a16="http://schemas.microsoft.com/office/drawing/2014/main" id="{6235BBE3-6651-FE51-409E-3B23BAA140E4}"/>
              </a:ext>
            </a:extLst>
          </p:cNvPr>
          <p:cNvCxnSpPr>
            <a:cxnSpLocks/>
          </p:cNvCxnSpPr>
          <p:nvPr/>
        </p:nvCxnSpPr>
        <p:spPr>
          <a:xfrm flipV="1">
            <a:off x="4099766" y="977510"/>
            <a:ext cx="667" cy="5374522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eur droit 229">
            <a:extLst>
              <a:ext uri="{FF2B5EF4-FFF2-40B4-BE49-F238E27FC236}">
                <a16:creationId xmlns:a16="http://schemas.microsoft.com/office/drawing/2014/main" id="{C5D96436-70FE-ED6B-C78F-11B48E0647E3}"/>
              </a:ext>
            </a:extLst>
          </p:cNvPr>
          <p:cNvCxnSpPr/>
          <p:nvPr/>
        </p:nvCxnSpPr>
        <p:spPr>
          <a:xfrm>
            <a:off x="11717872" y="2781172"/>
            <a:ext cx="216309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5" name="Connecteur droit 234">
            <a:extLst>
              <a:ext uri="{FF2B5EF4-FFF2-40B4-BE49-F238E27FC236}">
                <a16:creationId xmlns:a16="http://schemas.microsoft.com/office/drawing/2014/main" id="{AD30DEFB-2DAE-7DEA-D2EA-9F917FDA14CE}"/>
              </a:ext>
            </a:extLst>
          </p:cNvPr>
          <p:cNvCxnSpPr/>
          <p:nvPr/>
        </p:nvCxnSpPr>
        <p:spPr>
          <a:xfrm>
            <a:off x="11727114" y="2488592"/>
            <a:ext cx="216309" cy="0"/>
          </a:xfrm>
          <a:prstGeom prst="line">
            <a:avLst/>
          </a:prstGeom>
          <a:ln w="95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0" name="Zone de texte 1">
            <a:extLst>
              <a:ext uri="{FF2B5EF4-FFF2-40B4-BE49-F238E27FC236}">
                <a16:creationId xmlns:a16="http://schemas.microsoft.com/office/drawing/2014/main" id="{A4079101-4796-F211-0D7C-B82BF3DE4325}"/>
              </a:ext>
            </a:extLst>
          </p:cNvPr>
          <p:cNvSpPr txBox="1"/>
          <p:nvPr/>
        </p:nvSpPr>
        <p:spPr>
          <a:xfrm>
            <a:off x="60957" y="1020252"/>
            <a:ext cx="1043676" cy="181050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L’utilisateur charge ses documents dans la base de données, en prenant en compte leur mise en page. </a:t>
            </a:r>
          </a:p>
        </p:txBody>
      </p:sp>
      <p:sp>
        <p:nvSpPr>
          <p:cNvPr id="244" name="Zone de texte 1">
            <a:extLst>
              <a:ext uri="{FF2B5EF4-FFF2-40B4-BE49-F238E27FC236}">
                <a16:creationId xmlns:a16="http://schemas.microsoft.com/office/drawing/2014/main" id="{C2674931-0493-22C2-D3A4-6D7978AD953C}"/>
              </a:ext>
            </a:extLst>
          </p:cNvPr>
          <p:cNvSpPr txBox="1"/>
          <p:nvPr/>
        </p:nvSpPr>
        <p:spPr>
          <a:xfrm>
            <a:off x="60957" y="3997234"/>
            <a:ext cx="1146859" cy="105471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1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L’utilisateur questionne l’agent sur les documents présents dans la base de données. </a:t>
            </a:r>
          </a:p>
        </p:txBody>
      </p:sp>
      <p:sp>
        <p:nvSpPr>
          <p:cNvPr id="249" name="Triangle isocèle 248">
            <a:extLst>
              <a:ext uri="{FF2B5EF4-FFF2-40B4-BE49-F238E27FC236}">
                <a16:creationId xmlns:a16="http://schemas.microsoft.com/office/drawing/2014/main" id="{AFFD654E-3B3F-7DB6-111A-A0CC25B2B91B}"/>
              </a:ext>
            </a:extLst>
          </p:cNvPr>
          <p:cNvSpPr/>
          <p:nvPr/>
        </p:nvSpPr>
        <p:spPr>
          <a:xfrm rot="5400000">
            <a:off x="10650216" y="1911800"/>
            <a:ext cx="2329012" cy="388374"/>
          </a:xfrm>
          <a:prstGeom prst="triangle">
            <a:avLst>
              <a:gd name="adj" fmla="val 49673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3" name="Triangle isocèle 252">
            <a:extLst>
              <a:ext uri="{FF2B5EF4-FFF2-40B4-BE49-F238E27FC236}">
                <a16:creationId xmlns:a16="http://schemas.microsoft.com/office/drawing/2014/main" id="{F273A40B-7352-A41E-CE46-4A2BE379E8D6}"/>
              </a:ext>
            </a:extLst>
          </p:cNvPr>
          <p:cNvSpPr/>
          <p:nvPr/>
        </p:nvSpPr>
        <p:spPr>
          <a:xfrm rot="16200000">
            <a:off x="59482" y="5038941"/>
            <a:ext cx="2329012" cy="388374"/>
          </a:xfrm>
          <a:prstGeom prst="triangle">
            <a:avLst>
              <a:gd name="adj" fmla="val 49673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4" name="ZoneTexte 253">
            <a:extLst>
              <a:ext uri="{FF2B5EF4-FFF2-40B4-BE49-F238E27FC236}">
                <a16:creationId xmlns:a16="http://schemas.microsoft.com/office/drawing/2014/main" id="{877ED7DA-D813-74CA-14EF-01A8401E68B3}"/>
              </a:ext>
            </a:extLst>
          </p:cNvPr>
          <p:cNvSpPr txBox="1"/>
          <p:nvPr/>
        </p:nvSpPr>
        <p:spPr>
          <a:xfrm>
            <a:off x="7407797" y="230063"/>
            <a:ext cx="3217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highlight>
                  <a:srgbClr val="FFFF00"/>
                </a:highlight>
              </a:rPr>
              <a:t>Colors</a:t>
            </a:r>
            <a:r>
              <a:rPr lang="fr-FR" dirty="0">
                <a:highlight>
                  <a:srgbClr val="FFFF00"/>
                </a:highlight>
              </a:rPr>
              <a:t> </a:t>
            </a:r>
            <a:r>
              <a:rPr lang="fr-FR" dirty="0" err="1">
                <a:highlight>
                  <a:srgbClr val="FFFF00"/>
                </a:highlight>
              </a:rPr>
              <a:t>from</a:t>
            </a:r>
            <a:r>
              <a:rPr lang="fr-FR" dirty="0">
                <a:highlight>
                  <a:srgbClr val="FFFF00"/>
                </a:highlight>
              </a:rPr>
              <a:t> app </a:t>
            </a:r>
            <a:r>
              <a:rPr lang="fr-FR" dirty="0" err="1">
                <a:highlight>
                  <a:srgbClr val="FFFF00"/>
                </a:highlight>
              </a:rPr>
              <a:t>theme</a:t>
            </a:r>
            <a:endParaRPr lang="fr-F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328121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</TotalTime>
  <Words>238</Words>
  <Application>Microsoft Office PowerPoint</Application>
  <PresentationFormat>Grand écran</PresentationFormat>
  <Paragraphs>53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Symbol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Alizée Robin</dc:creator>
  <cp:lastModifiedBy>Alizée Robin</cp:lastModifiedBy>
  <cp:revision>33</cp:revision>
  <dcterms:created xsi:type="dcterms:W3CDTF">2026-08-24T17:36:31Z</dcterms:created>
  <dcterms:modified xsi:type="dcterms:W3CDTF">2026-08-24T20:47:19Z</dcterms:modified>
</cp:coreProperties>
</file>